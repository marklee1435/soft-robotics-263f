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T Sans Narrow"/>
      <p:regular r:id="rId11"/>
      <p:bold r:id="rId12"/>
    </p:embeddedFont>
    <p:embeddedFont>
      <p:font typeface="Open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TSansNarrow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-regular.fntdata"/><Relationship Id="rId12" Type="http://schemas.openxmlformats.org/officeDocument/2006/relationships/font" Target="fonts/PTSansNarrow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italic.fntdata"/><Relationship Id="rId14" Type="http://schemas.openxmlformats.org/officeDocument/2006/relationships/font" Target="fonts/OpenSans-bold.fntdata"/><Relationship Id="rId16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e5b5db79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e5b5db79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f724c459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f724c45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e5b5db79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e5b5db79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f724c45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f724c45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gif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i.org/10.1088/0964-1726/21/9/094026" TargetMode="External"/><Relationship Id="rId4" Type="http://schemas.openxmlformats.org/officeDocument/2006/relationships/hyperlink" Target="https://doi.org/10.1088/0964-1726/21/9/094026" TargetMode="External"/><Relationship Id="rId11" Type="http://schemas.openxmlformats.org/officeDocument/2006/relationships/hyperlink" Target="https://doi.org/10.1088/1748-3190/ad277f" TargetMode="External"/><Relationship Id="rId10" Type="http://schemas.openxmlformats.org/officeDocument/2006/relationships/hyperlink" Target="https://doi.org/10.3390/fluids4030169" TargetMode="External"/><Relationship Id="rId12" Type="http://schemas.openxmlformats.org/officeDocument/2006/relationships/hyperlink" Target="https://doi.org/10.1088/1748-3190/ad277f" TargetMode="External"/><Relationship Id="rId9" Type="http://schemas.openxmlformats.org/officeDocument/2006/relationships/hyperlink" Target="https://doi.org/10.3390/fluids4030169" TargetMode="External"/><Relationship Id="rId5" Type="http://schemas.openxmlformats.org/officeDocument/2006/relationships/hyperlink" Target="https://doi.org/10.1088/1748-3182/6/3/036004" TargetMode="External"/><Relationship Id="rId6" Type="http://schemas.openxmlformats.org/officeDocument/2006/relationships/hyperlink" Target="https://doi.org/10.1088/1748-3182/6/3/036004" TargetMode="External"/><Relationship Id="rId7" Type="http://schemas.openxmlformats.org/officeDocument/2006/relationships/hyperlink" Target="https://doi.org/10.1109/ChiCC.2015.7260571" TargetMode="External"/><Relationship Id="rId8" Type="http://schemas.openxmlformats.org/officeDocument/2006/relationships/hyperlink" Target="https://doi.org/10.1109/ChiCC.2015.726057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25" y="1883989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 Jellyfish Propulsion Simulation Proposal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939149"/>
            <a:ext cx="4870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By: Robert Marlow and Mark Lee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/ Approach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goal of the project is to model a soft jellyfish robot that propels itself through water by contracting its bell</a:t>
            </a:r>
            <a:endParaRPr/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Marine robots are increasingly valuable to scientific study and commercial exploration [1]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Jellyfish are a promising option for locomotion biomimicry because they consume very little energy [2]</a:t>
            </a:r>
            <a:endParaRPr sz="16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goal:</a:t>
            </a:r>
            <a:r>
              <a:rPr lang="en"/>
              <a:t> simulating a simple 2D cross section of a jellyfish using rods to connect 5 nodes together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/ Existing Literature 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literature on soft robotic biomimicry includes: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Jellyfish fluid simulations with varying degrees of fidelity [3], [4], [5]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Investigation of tentacle effects on drag [4]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1545" l="0" r="0" t="0"/>
          <a:stretch/>
        </p:blipFill>
        <p:spPr>
          <a:xfrm>
            <a:off x="2703476" y="2817875"/>
            <a:ext cx="3737049" cy="175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/ Existing Literature</a:t>
            </a:r>
            <a:r>
              <a:rPr lang="en"/>
              <a:t> 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literature on soft robotic biomimicry includes: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Jellyfish fluid simulations with varying degrees of fidelity [3], [4], [5]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Investigation of tentacle effects on drag [4]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Prototypes with different actuators:</a:t>
            </a:r>
            <a:endParaRPr/>
          </a:p>
        </p:txBody>
      </p:sp>
      <p:cxnSp>
        <p:nvCxnSpPr>
          <p:cNvPr id="87" name="Google Shape;87;p16"/>
          <p:cNvCxnSpPr/>
          <p:nvPr/>
        </p:nvCxnSpPr>
        <p:spPr>
          <a:xfrm>
            <a:off x="734400" y="4597050"/>
            <a:ext cx="7675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150" y="2909125"/>
            <a:ext cx="1642300" cy="139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b="-23829" l="16130" r="16123" t="-23815"/>
          <a:stretch/>
        </p:blipFill>
        <p:spPr>
          <a:xfrm rot="-5400000">
            <a:off x="5255163" y="2933625"/>
            <a:ext cx="1108800" cy="1637100"/>
          </a:xfrm>
          <a:prstGeom prst="snip1Rect">
            <a:avLst>
              <a:gd fmla="val 36055" name="adj"/>
            </a:avLst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2587" y="2977419"/>
            <a:ext cx="1642300" cy="12608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low visualization around the jellyfish body" id="91" name="Google Shape;91;p16"/>
          <p:cNvPicPr preferRelativeResize="0"/>
          <p:nvPr/>
        </p:nvPicPr>
        <p:blipFill rotWithShape="1">
          <a:blip r:embed="rId6">
            <a:alphaModFix/>
          </a:blip>
          <a:srcRect b="12739" l="0" r="18771" t="0"/>
          <a:stretch/>
        </p:blipFill>
        <p:spPr>
          <a:xfrm rot="10800000">
            <a:off x="7284275" y="2696200"/>
            <a:ext cx="1425725" cy="15420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975750" y="4178675"/>
            <a:ext cx="47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[3]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3274188" y="4178675"/>
            <a:ext cx="47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[1]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5560263" y="4178675"/>
            <a:ext cx="47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[2]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7757575" y="4178675"/>
            <a:ext cx="47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[5]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11700" y="4569025"/>
            <a:ext cx="125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Less flexible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7458000" y="4569025"/>
            <a:ext cx="137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More</a:t>
            </a: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flexible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J. Najem, S. A. Sarles, B. Akle, and D. J. Leo, “Biomimetic jellyfish-inspired underwater vehicle actuated by ionic polymer metal composite actuators,” </a:t>
            </a:r>
            <a:r>
              <a:rPr i="1" lang="en" sz="1200"/>
              <a:t>Smart Mater. Struct.</a:t>
            </a:r>
            <a:r>
              <a:rPr lang="en" sz="1200"/>
              <a:t>, vol. 21, no. 9, p. 094026, Sep. 2012, doi:</a:t>
            </a:r>
            <a:r>
              <a:rPr lang="en" sz="1200">
                <a:uFill>
                  <a:noFill/>
                </a:uFill>
                <a:hlinkClick r:id="rId3"/>
              </a:rPr>
              <a:t> </a:t>
            </a:r>
            <a:r>
              <a:rPr lang="en" sz="1200" u="sng">
                <a:solidFill>
                  <a:schemeClr val="accent3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10.1088/0964-1726/21/9/094026</a:t>
            </a:r>
            <a:r>
              <a:rPr lang="en" sz="1200"/>
              <a:t>.</a:t>
            </a:r>
            <a:endParaRPr sz="1200"/>
          </a:p>
          <a:p>
            <a:pPr indent="-304800" lvl="0" marL="457200" marR="76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A. Villanueva, C. Smith, and S. Priya, “A biomimetic robotic jellyfish (Robojelly) actuated by shape memory alloy composite actuators,” </a:t>
            </a:r>
            <a:r>
              <a:rPr i="1" lang="en" sz="1200"/>
              <a:t>Bioinspir. Biomim.</a:t>
            </a:r>
            <a:r>
              <a:rPr lang="en" sz="1200"/>
              <a:t>, vol. 6, no. 3, p. 036004, Sep. 2011, doi:</a:t>
            </a:r>
            <a:r>
              <a:rPr lang="en" sz="1200">
                <a:uFill>
                  <a:noFill/>
                </a:uFill>
                <a:hlinkClick r:id="rId5"/>
              </a:rPr>
              <a:t> </a:t>
            </a:r>
            <a:r>
              <a:rPr lang="en" sz="1200" u="sng">
                <a:solidFill>
                  <a:schemeClr val="accent3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10.1088/1748-3182/6/3/036004</a:t>
            </a:r>
            <a:r>
              <a:rPr lang="en" sz="1200"/>
              <a:t>.</a:t>
            </a:r>
            <a:endParaRPr sz="1200"/>
          </a:p>
          <a:p>
            <a:pPr indent="-304800" lvl="0" marL="457200" marR="76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L. Xiangbin and Y. Junzhi, “Design and simulation of a robotic jellyfish based on mechanical structure drive and adjustment,” in </a:t>
            </a:r>
            <a:r>
              <a:rPr i="1" lang="en" sz="1200"/>
              <a:t>2015 34th Chinese Control Conference (CCC)</a:t>
            </a:r>
            <a:r>
              <a:rPr lang="en" sz="1200"/>
              <a:t>, Jul. 2015, pp. 5953–5958. doi:</a:t>
            </a:r>
            <a:r>
              <a:rPr lang="en" sz="1200">
                <a:uFill>
                  <a:noFill/>
                </a:uFill>
                <a:hlinkClick r:id="rId7"/>
              </a:rPr>
              <a:t> </a:t>
            </a:r>
            <a:r>
              <a:rPr lang="en" sz="1200" u="sng">
                <a:solidFill>
                  <a:schemeClr val="accent3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10.1109/ChiCC.2015.7260571</a:t>
            </a:r>
            <a:r>
              <a:rPr lang="en" sz="1200"/>
              <a:t>.</a:t>
            </a:r>
            <a:endParaRPr sz="1200"/>
          </a:p>
          <a:p>
            <a:pPr indent="-304800" lvl="0" marL="457200" marR="50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J. G. Miles and N. A. Battista, “Naut Your Everyday Jellyfish Model: Exploring How Tentacles and Oral Arms Impact Locomotion,” </a:t>
            </a:r>
            <a:r>
              <a:rPr i="1" lang="en" sz="1200"/>
              <a:t>Fluids</a:t>
            </a:r>
            <a:r>
              <a:rPr lang="en" sz="1200"/>
              <a:t>, vol. 4, no. 3, p. 169, Sep. 2019, doi:</a:t>
            </a:r>
            <a:r>
              <a:rPr lang="en" sz="1200">
                <a:uFill>
                  <a:noFill/>
                </a:uFill>
                <a:hlinkClick r:id="rId9"/>
              </a:rPr>
              <a:t> </a:t>
            </a:r>
            <a:r>
              <a:rPr lang="en" sz="1200" u="sng">
                <a:solidFill>
                  <a:schemeClr val="accent3"/>
                </a:solid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10.3390/fluids4030169</a:t>
            </a:r>
            <a:r>
              <a:rPr lang="en" sz="1200"/>
              <a:t>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marR="50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S. R. Anuszczyk and J. O. Dabiri, “Electromechanical enhancement of live jellyfish for ocean exploration,” </a:t>
            </a:r>
            <a:r>
              <a:rPr i="1" lang="en" sz="1200"/>
              <a:t>Bioinspir. Biomim.</a:t>
            </a:r>
            <a:r>
              <a:rPr lang="en" sz="1200"/>
              <a:t>, vol. 19, no. 2, p. 026018, Mar. 2024, doi:</a:t>
            </a:r>
            <a:r>
              <a:rPr lang="en" sz="1200">
                <a:solidFill>
                  <a:srgbClr val="000000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accent3"/>
                </a:solid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10.1088/1748-3190/ad277f</a:t>
            </a:r>
            <a:r>
              <a:rPr lang="en" sz="1200">
                <a:solidFill>
                  <a:srgbClr val="000000"/>
                </a:solidFill>
              </a:rPr>
              <a:t>.</a:t>
            </a:r>
            <a:endParaRPr sz="120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