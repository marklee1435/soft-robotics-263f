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T Sans Narrow"/>
      <p:regular r:id="rId17"/>
      <p:bold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TSansNarrow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PTSansNarrow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19db817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19db817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19db817e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19db817e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f854b59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f854b59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f854b599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f854b599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f854b599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f854b599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f854b599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f854b599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e5b5db79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e5b5db79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f854b599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f854b599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90646d0b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90646d0b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f724c45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f724c45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gif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6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gif"/><Relationship Id="rId4" Type="http://schemas.openxmlformats.org/officeDocument/2006/relationships/image" Target="../media/image3.gif"/><Relationship Id="rId5" Type="http://schemas.openxmlformats.org/officeDocument/2006/relationships/image" Target="../media/image18.gif"/><Relationship Id="rId6" Type="http://schemas.openxmlformats.org/officeDocument/2006/relationships/image" Target="../media/image12.gif"/><Relationship Id="rId7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gif"/><Relationship Id="rId4" Type="http://schemas.openxmlformats.org/officeDocument/2006/relationships/image" Target="../media/image15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gif"/><Relationship Id="rId4" Type="http://schemas.openxmlformats.org/officeDocument/2006/relationships/image" Target="../media/image14.gif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hyperlink" Target="https://doi.org/10.1088/1748-3190/ad277f" TargetMode="External"/><Relationship Id="rId10" Type="http://schemas.openxmlformats.org/officeDocument/2006/relationships/hyperlink" Target="https://doi.org/10.3390/fluids4030169" TargetMode="External"/><Relationship Id="rId13" Type="http://schemas.openxmlformats.org/officeDocument/2006/relationships/hyperlink" Target="https://doi.org/10.1119/1.10903" TargetMode="External"/><Relationship Id="rId12" Type="http://schemas.openxmlformats.org/officeDocument/2006/relationships/hyperlink" Target="https://doi.org/10.1088/1748-3190/ad277f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i.org/10.1088/0964-1726/21/9/094026" TargetMode="External"/><Relationship Id="rId4" Type="http://schemas.openxmlformats.org/officeDocument/2006/relationships/hyperlink" Target="https://doi.org/10.1088/0964-1726/21/9/094026" TargetMode="External"/><Relationship Id="rId9" Type="http://schemas.openxmlformats.org/officeDocument/2006/relationships/hyperlink" Target="https://doi.org/10.3390/fluids4030169" TargetMode="External"/><Relationship Id="rId14" Type="http://schemas.openxmlformats.org/officeDocument/2006/relationships/hyperlink" Target="https://doi.org/10.1119/1.10903" TargetMode="External"/><Relationship Id="rId5" Type="http://schemas.openxmlformats.org/officeDocument/2006/relationships/hyperlink" Target="https://doi.org/10.1088/1748-3182/6/3/036004" TargetMode="External"/><Relationship Id="rId6" Type="http://schemas.openxmlformats.org/officeDocument/2006/relationships/hyperlink" Target="https://doi.org/10.1088/1748-3182/6/3/036004" TargetMode="External"/><Relationship Id="rId7" Type="http://schemas.openxmlformats.org/officeDocument/2006/relationships/hyperlink" Target="https://doi.org/10.1109/ChiCC.2015.7260571" TargetMode="External"/><Relationship Id="rId8" Type="http://schemas.openxmlformats.org/officeDocument/2006/relationships/hyperlink" Target="https://doi.org/10.1109/ChiCC.2015.726057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25" y="1883989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360"/>
              <a:t>Soft Jellyfish </a:t>
            </a:r>
            <a:r>
              <a:rPr lang="en" sz="4360"/>
              <a:t>Propulsion </a:t>
            </a:r>
            <a:r>
              <a:rPr lang="en" sz="4360"/>
              <a:t>Simulation Final Update</a:t>
            </a:r>
            <a:endParaRPr sz="4360"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939149"/>
            <a:ext cx="4870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By: Robert Marlow and Mark Lee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48018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Initial motivation to </a:t>
            </a:r>
            <a:r>
              <a:rPr lang="en"/>
              <a:t>simulate</a:t>
            </a:r>
            <a:r>
              <a:rPr lang="en"/>
              <a:t> a soft jellyfish was to </a:t>
            </a:r>
            <a:r>
              <a:rPr lang="en"/>
              <a:t>understand</a:t>
            </a:r>
            <a:r>
              <a:rPr lang="en"/>
              <a:t> how flexible structures interact with hydrodynamic forces to produce propulsion.</a:t>
            </a:r>
            <a:endParaRPr sz="16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Understanding this propulsion would allow us to optimize the soft jelly’s parameters to create the most efficient design for our simulation</a:t>
            </a:r>
            <a:endParaRPr/>
          </a:p>
        </p:txBody>
      </p:sp>
      <p:pic>
        <p:nvPicPr>
          <p:cNvPr id="74" name="Google Shape;74;p14" title="moon-jellyfish-aurelia-aurita-floating-in-the-ocean-two-colum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3500" y="1650725"/>
            <a:ext cx="3725701" cy="2152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/ Approach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goal of the project is to model a soft jellyfish robot that propels itself through water by contracting its bell</a:t>
            </a:r>
            <a:endParaRPr/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Marine robots are increasingly valuable to scientific study and commercial exploration</a:t>
            </a:r>
            <a:r>
              <a:rPr baseline="30000" lang="en" sz="1600"/>
              <a:t>[1]</a:t>
            </a:r>
            <a:endParaRPr baseline="30000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Jellyfish are a promising option for locomotion biomimicry because they consume very little energy</a:t>
            </a:r>
            <a:r>
              <a:rPr baseline="30000" lang="en" sz="1600"/>
              <a:t>[2]</a:t>
            </a:r>
            <a:endParaRPr baseline="30000" sz="16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</a:t>
            </a:r>
            <a:r>
              <a:rPr lang="en"/>
              <a:t>imulate a simple 2D cross section of a jellyfish using rods to connect 5 nodes together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Past Work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266325"/>
            <a:ext cx="52404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Existing simulations of elastic deformation in actuated soft jelly robots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Discrete </a:t>
            </a:r>
            <a:r>
              <a:rPr lang="en"/>
              <a:t>differential</a:t>
            </a:r>
            <a:r>
              <a:rPr lang="en"/>
              <a:t> geometry seems well-suited to this task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Computationally-heavy methods usually used to model fluid-structure interactions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en"/>
              <a:t>Would be cool if we could do it faster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4725" y="837750"/>
            <a:ext cx="2873725" cy="18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7076" y="3042499"/>
            <a:ext cx="1786450" cy="1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5764738" y="2623425"/>
            <a:ext cx="2873700" cy="3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BISMAC Actuated Bell Cross-Section</a:t>
            </a:r>
            <a:r>
              <a:rPr baseline="30000" lang="en" sz="1200"/>
              <a:t>[2]</a:t>
            </a:r>
            <a:endParaRPr baseline="30000" sz="1200"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5967699" y="4690000"/>
            <a:ext cx="2665200" cy="3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Detailed fluid simulation in IB2D</a:t>
            </a:r>
            <a:r>
              <a:rPr baseline="30000" lang="en" sz="1200"/>
              <a:t>[4]</a:t>
            </a:r>
            <a:endParaRPr baseline="30000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Challenges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266325"/>
            <a:ext cx="571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net movement under low-Re drag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Reciprocal motion cannot produce thrust when Re &lt;&lt; 1, per the Scallop Theorem</a:t>
            </a:r>
            <a:r>
              <a:rPr baseline="30000" lang="en"/>
              <a:t>[7]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Actual jellyfish swim at Re = 150 ~ 500</a:t>
            </a:r>
            <a:r>
              <a:rPr baseline="30000" lang="en"/>
              <a:t>[4], [5]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Implemented high-Re (quadratic) drag</a:t>
            </a:r>
            <a:r>
              <a:rPr baseline="30000" lang="en"/>
              <a:t>[6]</a:t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Initially still no propulsion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en"/>
              <a:t>Started to see change by increasing C</a:t>
            </a:r>
            <a:r>
              <a:rPr baseline="-25000" lang="en"/>
              <a:t>D</a:t>
            </a:r>
            <a:r>
              <a:rPr lang="en"/>
              <a:t> (0.42 -&gt; ~100)</a:t>
            </a:r>
            <a:endParaRPr/>
          </a:p>
        </p:txBody>
      </p:sp>
      <p:pic>
        <p:nvPicPr>
          <p:cNvPr id="97" name="Google Shape;97;p17" title="anim(2)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7940" y="521800"/>
            <a:ext cx="2733275" cy="204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 rotWithShape="1">
          <a:blip r:embed="rId4">
            <a:alphaModFix/>
          </a:blip>
          <a:srcRect b="622" l="573" r="504" t="523"/>
          <a:stretch/>
        </p:blipFill>
        <p:spPr>
          <a:xfrm>
            <a:off x="5947116" y="2920384"/>
            <a:ext cx="2733276" cy="1746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1411" y="3306828"/>
            <a:ext cx="2110309" cy="3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7763" y="3080425"/>
            <a:ext cx="1434700" cy="2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in Results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311700" y="1266325"/>
            <a:ext cx="5727000" cy="21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Simulation now predicts net forward movement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simplifications resulted in lower thrust force than nature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en"/>
              <a:t>Including farther-field effects like jetting and vortexing would slow computation</a:t>
            </a:r>
            <a:endParaRPr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3294" y="499125"/>
            <a:ext cx="2700183" cy="17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 title="anim.gif"/>
          <p:cNvPicPr preferRelativeResize="0"/>
          <p:nvPr/>
        </p:nvPicPr>
        <p:blipFill rotWithShape="1">
          <a:blip r:embed="rId4">
            <a:alphaModFix/>
          </a:blip>
          <a:srcRect b="0" l="6714" r="12294" t="0"/>
          <a:stretch/>
        </p:blipFill>
        <p:spPr>
          <a:xfrm>
            <a:off x="6153300" y="2271300"/>
            <a:ext cx="2700174" cy="250033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549702" y="3499625"/>
            <a:ext cx="1960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Height = 0.08 m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Width = 0.1 m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Thickness = 0.04 m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Timestep = 0.01 s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baseline="-25000"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nodes</a:t>
            </a: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= 5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2829600" y="3499625"/>
            <a:ext cx="3209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Bending Stiffness EI = 0.01 N-m/rad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Stretching Stiffness EA = 30 N/m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Bell Density = 1050 kg/m</a:t>
            </a:r>
            <a:r>
              <a:rPr baseline="30000"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Seawater Density = 1025 kg/m</a:t>
            </a:r>
            <a:r>
              <a:rPr baseline="30000"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Drag Coefficient C</a:t>
            </a:r>
            <a:r>
              <a:rPr baseline="-25000"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= 100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7882350" y="2550586"/>
            <a:ext cx="928800" cy="2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2.5x speed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 Fineness Ratio</a:t>
            </a:r>
            <a:endParaRPr/>
          </a:p>
        </p:txBody>
      </p:sp>
      <p:pic>
        <p:nvPicPr>
          <p:cNvPr id="117" name="Google Shape;117;p19" title="anim_smallercontraction.gif"/>
          <p:cNvPicPr preferRelativeResize="0"/>
          <p:nvPr/>
        </p:nvPicPr>
        <p:blipFill rotWithShape="1">
          <a:blip r:embed="rId3">
            <a:alphaModFix/>
          </a:blip>
          <a:srcRect b="0" l="0" r="0" t="6375"/>
          <a:stretch/>
        </p:blipFill>
        <p:spPr>
          <a:xfrm>
            <a:off x="4572000" y="2907851"/>
            <a:ext cx="2255626" cy="1583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 title="anim_flatter.gif"/>
          <p:cNvPicPr preferRelativeResize="0"/>
          <p:nvPr/>
        </p:nvPicPr>
        <p:blipFill rotWithShape="1">
          <a:blip r:embed="rId4">
            <a:alphaModFix/>
          </a:blip>
          <a:srcRect b="0" l="0" r="0" t="6367"/>
          <a:stretch/>
        </p:blipFill>
        <p:spPr>
          <a:xfrm>
            <a:off x="2316375" y="2907844"/>
            <a:ext cx="2255626" cy="158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 title="anim_veryflat.gif"/>
          <p:cNvPicPr preferRelativeResize="0"/>
          <p:nvPr/>
        </p:nvPicPr>
        <p:blipFill rotWithShape="1">
          <a:blip r:embed="rId5">
            <a:alphaModFix/>
          </a:blip>
          <a:srcRect b="0" l="0" r="0" t="6367"/>
          <a:stretch/>
        </p:blipFill>
        <p:spPr>
          <a:xfrm>
            <a:off x="60750" y="2907844"/>
            <a:ext cx="2255626" cy="158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 title="anim_taller.gif"/>
          <p:cNvPicPr preferRelativeResize="0"/>
          <p:nvPr/>
        </p:nvPicPr>
        <p:blipFill rotWithShape="1">
          <a:blip r:embed="rId6">
            <a:alphaModFix/>
          </a:blip>
          <a:srcRect b="0" l="0" r="0" t="6367"/>
          <a:stretch/>
        </p:blipFill>
        <p:spPr>
          <a:xfrm>
            <a:off x="6827625" y="2907844"/>
            <a:ext cx="2255626" cy="158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311700" y="1266325"/>
            <a:ext cx="6385200" cy="17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Species are generally categorized as prolate (F &gt; 1.0) or oblate (F &lt; 0.5)</a:t>
            </a:r>
            <a:r>
              <a:rPr baseline="30000" lang="en"/>
              <a:t>[1]</a:t>
            </a:r>
            <a:endParaRPr baseline="30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Prolate propulsion dominated by jetting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Oblate propulsion dominated by vortices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Oblate species are more efficient</a:t>
            </a:r>
            <a:endParaRPr/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83139" y="1679813"/>
            <a:ext cx="587436" cy="47451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578936" y="4491783"/>
            <a:ext cx="7530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 = 1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2979775" y="4491783"/>
            <a:ext cx="9288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 = 0.6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724150" y="4491783"/>
            <a:ext cx="9288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 = 0.4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5235400" y="4491783"/>
            <a:ext cx="9288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 = 0.8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Effects of Contraction Amplitude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311700" y="1266325"/>
            <a:ext cx="5085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higher amplitudes, arm drag force works against forward movement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Pulling the arms in this far also costs more wasted energy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Modeled differing levels of contraction uniformity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en"/>
              <a:t>In nature, oblate species deform more along the edges and prolate species deform more near the apex</a:t>
            </a:r>
            <a:r>
              <a:rPr baseline="30000" lang="en"/>
              <a:t>[1]</a:t>
            </a:r>
            <a:endParaRPr baseline="30000"/>
          </a:p>
        </p:txBody>
      </p:sp>
      <p:pic>
        <p:nvPicPr>
          <p:cNvPr id="133" name="Google Shape;133;p20" title="anim_bigcontraction.gif"/>
          <p:cNvPicPr preferRelativeResize="0"/>
          <p:nvPr/>
        </p:nvPicPr>
        <p:blipFill rotWithShape="1">
          <a:blip r:embed="rId3">
            <a:alphaModFix/>
          </a:blip>
          <a:srcRect b="0" l="0" r="0" t="6375"/>
          <a:stretch/>
        </p:blipFill>
        <p:spPr>
          <a:xfrm>
            <a:off x="6080975" y="165784"/>
            <a:ext cx="2945350" cy="2068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0" title="anim_smallercontraction.gif"/>
          <p:cNvPicPr preferRelativeResize="0"/>
          <p:nvPr/>
        </p:nvPicPr>
        <p:blipFill rotWithShape="1">
          <a:blip r:embed="rId4">
            <a:alphaModFix/>
          </a:blip>
          <a:srcRect b="0" l="0" r="0" t="6375"/>
          <a:stretch/>
        </p:blipFill>
        <p:spPr>
          <a:xfrm>
            <a:off x="6080975" y="2571750"/>
            <a:ext cx="2945350" cy="206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6666850" y="2108584"/>
            <a:ext cx="1773600" cy="3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400"/>
              <a:t>Larger Amplitude</a:t>
            </a:r>
            <a:endParaRPr sz="1400"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6666850" y="4521937"/>
            <a:ext cx="1773600" cy="3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400"/>
              <a:t>Smaller</a:t>
            </a:r>
            <a:r>
              <a:rPr lang="en" sz="1400"/>
              <a:t> Amplitude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More Phenomena</a:t>
            </a:r>
            <a:endParaRPr/>
          </a:p>
        </p:txBody>
      </p:sp>
      <p:pic>
        <p:nvPicPr>
          <p:cNvPr id="142" name="Google Shape;142;p21" title="anim.gif"/>
          <p:cNvPicPr preferRelativeResize="0"/>
          <p:nvPr/>
        </p:nvPicPr>
        <p:blipFill rotWithShape="1">
          <a:blip r:embed="rId3">
            <a:alphaModFix/>
          </a:blip>
          <a:srcRect b="0" l="5865" r="10814" t="0"/>
          <a:stretch/>
        </p:blipFill>
        <p:spPr>
          <a:xfrm>
            <a:off x="4807329" y="2674120"/>
            <a:ext cx="2225709" cy="2003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1" title="anim_jetting.gif"/>
          <p:cNvPicPr preferRelativeResize="0"/>
          <p:nvPr/>
        </p:nvPicPr>
        <p:blipFill rotWithShape="1">
          <a:blip r:embed="rId4">
            <a:alphaModFix/>
          </a:blip>
          <a:srcRect b="0" l="8938" r="15441" t="0"/>
          <a:stretch/>
        </p:blipFill>
        <p:spPr>
          <a:xfrm>
            <a:off x="2110950" y="2410264"/>
            <a:ext cx="2286214" cy="226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311700" y="1266325"/>
            <a:ext cx="6943500" cy="24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Simplified assumptions to include jetting thrust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Conservation of momentum: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Jet velocity calculated from change in area under bell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Distributed force applied to all nodes</a:t>
            </a: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 rotWithShape="1">
          <a:blip r:embed="rId5">
            <a:alphaModFix/>
          </a:blip>
          <a:srcRect b="10139" l="0" r="0" t="12220"/>
          <a:stretch/>
        </p:blipFill>
        <p:spPr>
          <a:xfrm>
            <a:off x="4159875" y="1651964"/>
            <a:ext cx="3477325" cy="32286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2617637" y="4565025"/>
            <a:ext cx="15846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Jetting</a:t>
            </a:r>
            <a:endParaRPr/>
          </a:p>
        </p:txBody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5376917" y="4565037"/>
            <a:ext cx="12345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Jetting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Progress</a:t>
            </a:r>
            <a:endParaRPr/>
          </a:p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</a:t>
            </a:r>
            <a:r>
              <a:rPr lang="en"/>
              <a:t> a more robust hydrodynamic model that could include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Modeling the mass of the water inside of the jellyfish’s bell to more </a:t>
            </a:r>
            <a:r>
              <a:rPr lang="en"/>
              <a:t>accurately</a:t>
            </a:r>
            <a:r>
              <a:rPr lang="en"/>
              <a:t> simulate the hydrodynamics 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Implement</a:t>
            </a:r>
            <a:r>
              <a:rPr lang="en"/>
              <a:t> some sort of natural jetting force or some sort of </a:t>
            </a:r>
            <a:r>
              <a:rPr lang="en"/>
              <a:t>vorticity</a:t>
            </a:r>
            <a:r>
              <a:rPr lang="en"/>
              <a:t> generation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 the number of nodes our model can accurately simulate to create a more wave like motion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Bring this simulation to 3D which would allow for more complicated plate simulations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Non Uniform</a:t>
            </a:r>
            <a:r>
              <a:rPr lang="en"/>
              <a:t> stiffness/geometry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59" name="Google Shape;159;p2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J. Najem, S. A. Sarles, B. Akle, and D. J. Leo, “Biomimetic jellyfish-inspired underwater vehicle actuated by ionic polymer metal composite actuators,” </a:t>
            </a:r>
            <a:r>
              <a:rPr i="1" lang="en" sz="1100"/>
              <a:t>Smart Mater. Struct.</a:t>
            </a:r>
            <a:r>
              <a:rPr lang="en" sz="1100"/>
              <a:t>, vol. 21, no. 9, p. 094026, Sep. 2012, doi:</a:t>
            </a:r>
            <a:r>
              <a:rPr lang="en" sz="1100">
                <a:uFill>
                  <a:noFill/>
                </a:uFill>
                <a:hlinkClick r:id="rId3"/>
              </a:rPr>
              <a:t> </a:t>
            </a:r>
            <a:r>
              <a:rPr lang="en" sz="1100" u="sng">
                <a:solidFill>
                  <a:schemeClr val="accent3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10.1088/0964-1726/21/9/094026</a:t>
            </a:r>
            <a:r>
              <a:rPr lang="en" sz="1100"/>
              <a:t>.</a:t>
            </a:r>
            <a:endParaRPr sz="1100"/>
          </a:p>
          <a:p>
            <a:pPr indent="-298450" lvl="0" marL="457200" marR="76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A. Villanueva, C. Smith, and S. Priya, “A biomimetic robotic jellyfish (Robojelly) actuated by shape memory alloy composite actuators,” </a:t>
            </a:r>
            <a:r>
              <a:rPr i="1" lang="en" sz="1100"/>
              <a:t>Bioinspir. Biomim.</a:t>
            </a:r>
            <a:r>
              <a:rPr lang="en" sz="1100"/>
              <a:t>, vol. 6, no. 3, p. 036004, Sep. 2011, doi:</a:t>
            </a:r>
            <a:r>
              <a:rPr lang="en" sz="1100">
                <a:uFill>
                  <a:noFill/>
                </a:uFill>
                <a:hlinkClick r:id="rId5"/>
              </a:rPr>
              <a:t> </a:t>
            </a:r>
            <a:r>
              <a:rPr lang="en" sz="1100" u="sng">
                <a:solidFill>
                  <a:schemeClr val="accent3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10.1088/1748-3182/6/3/036004</a:t>
            </a:r>
            <a:r>
              <a:rPr lang="en" sz="1100"/>
              <a:t>.</a:t>
            </a:r>
            <a:endParaRPr sz="1100"/>
          </a:p>
          <a:p>
            <a:pPr indent="-298450" lvl="0" marL="457200" marR="76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L. Xiangbin and Y. Junzhi, “Design and simulation of a robotic jellyfish based on mechanical structure drive and adjustment,” in </a:t>
            </a:r>
            <a:r>
              <a:rPr i="1" lang="en" sz="1100"/>
              <a:t>2015 34th Chinese Control Conference (CCC)</a:t>
            </a:r>
            <a:r>
              <a:rPr lang="en" sz="1100"/>
              <a:t>, Jul. 2015, pp. 5953–5958. doi:</a:t>
            </a:r>
            <a:r>
              <a:rPr lang="en" sz="1100">
                <a:uFill>
                  <a:noFill/>
                </a:uFill>
                <a:hlinkClick r:id="rId7"/>
              </a:rPr>
              <a:t> </a:t>
            </a:r>
            <a:r>
              <a:rPr lang="en" sz="1100" u="sng">
                <a:solidFill>
                  <a:schemeClr val="accent3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10.1109/ChiCC.2015.7260571</a:t>
            </a:r>
            <a:r>
              <a:rPr lang="en" sz="1100"/>
              <a:t>.</a:t>
            </a:r>
            <a:endParaRPr sz="1100"/>
          </a:p>
          <a:p>
            <a:pPr indent="-298450" lvl="0" marL="457200" marR="50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J. G. Miles and N. A. Battista, “Naut Your Everyday Jellyfish Model: Exploring How Tentacles and Oral Arms Impact Locomotion,” </a:t>
            </a:r>
            <a:r>
              <a:rPr i="1" lang="en" sz="1100"/>
              <a:t>Fluids</a:t>
            </a:r>
            <a:r>
              <a:rPr lang="en" sz="1100"/>
              <a:t>, vol. 4, no. 3, p. 169, Sep. 2019, doi:</a:t>
            </a:r>
            <a:r>
              <a:rPr lang="en" sz="1100">
                <a:uFill>
                  <a:noFill/>
                </a:uFill>
                <a:hlinkClick r:id="rId9"/>
              </a:rPr>
              <a:t> </a:t>
            </a:r>
            <a:r>
              <a:rPr lang="en" sz="1100" u="sng">
                <a:solidFill>
                  <a:schemeClr val="accent3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10.3390/fluids4030169</a:t>
            </a:r>
            <a:r>
              <a:rPr lang="en" sz="1100"/>
              <a:t>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marR="50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S. R. Anuszczyk and J. O. Dabiri, “Electromechanical enhancement of live jellyfish for ocean exploration,” </a:t>
            </a:r>
            <a:r>
              <a:rPr i="1" lang="en" sz="1100"/>
              <a:t>Bioinspir. Biomim.</a:t>
            </a:r>
            <a:r>
              <a:rPr lang="en" sz="1100"/>
              <a:t>, vol. 19, no. 2, p. 026018, Mar. 2024, doi: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accent3"/>
                </a:solid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10.1088/1748-3190/ad277f</a:t>
            </a:r>
            <a:r>
              <a:rPr lang="en" sz="1100">
                <a:solidFill>
                  <a:srgbClr val="000000"/>
                </a:solidFill>
              </a:rPr>
              <a:t>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marR="50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M. K. Jawed and S. Lim, “Discrete Simulation of Slender Structures.” Accessed: Oct. 10, 2025. [Online].</a:t>
            </a:r>
            <a:endParaRPr sz="1100"/>
          </a:p>
          <a:p>
            <a:pPr indent="-298450" lvl="0" marL="457200" marR="50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E. M. Purcell, “Life at low Reynolds number,” </a:t>
            </a:r>
            <a:r>
              <a:rPr i="1" lang="en" sz="1100"/>
              <a:t>Am. J. Phys.</a:t>
            </a:r>
            <a:r>
              <a:rPr lang="en" sz="1100"/>
              <a:t>, vol. 45, no. 1, pp. 3–11, Jan. 1977, doi:</a:t>
            </a:r>
            <a:r>
              <a:rPr lang="en" sz="1100">
                <a:uFill>
                  <a:noFill/>
                </a:uFill>
                <a:hlinkClick r:id="rId13"/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4"/>
              </a:rPr>
              <a:t>10.1119/1.10903</a:t>
            </a:r>
            <a:r>
              <a:rPr lang="en" sz="1100">
                <a:solidFill>
                  <a:srgbClr val="000000"/>
                </a:solidFill>
              </a:rPr>
              <a:t>.</a:t>
            </a:r>
            <a:endParaRPr sz="11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